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FHqZ7v9rf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FHqZ7v9rf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FHqZ7v9rf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FHqZ7v9rf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9189720" y="91440"/>
            <a:ext cx="2606040" cy="260604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E9DCC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228600" y="5212080"/>
            <a:ext cx="1417320" cy="141732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BFD7E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4008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EU Smart Tourism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8B"/>
                </a:solidFill>
              </a:rPr>
              <a:t>핵심 구간과 수업 설명 포인트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58368" y="1737360"/>
            <a:ext cx="4389120" cy="0"/>
          </a:xfrm>
          <a:prstGeom prst="line">
            <a:avLst/>
          </a:prstGeom>
          <a:noFill/>
          <a:ln w="381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993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The European Capital of Smart Tourism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359152"/>
            <a:ext cx="521208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가장 중요한 부분: 00:36–00:52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EU가 스마트관광의 핵심을 가장 압축적으로 제시하는 구간입니다.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749808"/>
            <a:ext cx="4526280" cy="4526280"/>
          </a:xfrm>
          <a:prstGeom prst="roundRect">
            <a:avLst>
              <a:gd name="adj" fmla="val 5051"/>
            </a:avLst>
          </a:prstGeom>
          <a:solidFill>
            <a:srgbClr val="FFFFFF">
              <a:alpha val="95000"/>
            </a:srgbClr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">
            <a:off x="6949440" y="1152144"/>
            <a:ext cx="3703320" cy="37033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1F6F8B">
                <a:alpha val="9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0200000">
            <a:off x="7187184" y="1389888"/>
            <a:ext cx="3227832" cy="3227832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57CC99">
                <a:alpha val="9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7100000">
            <a:off x="7424928" y="1627632"/>
            <a:ext cx="2761488" cy="2761488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F2B705">
                <a:alpha val="9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542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SMART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TOURISM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60920" y="9144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F6F8B">
              <a:alpha val="96000"/>
            </a:srgbClr>
          </a:solidFill>
          <a:ln w="12700">
            <a:solidFill>
              <a:srgbClr val="1F6F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0012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Accessibility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0" y="13716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38A3A5">
              <a:alpha val="96000"/>
            </a:srgbClr>
          </a:solidFill>
          <a:ln w="12700">
            <a:solidFill>
              <a:srgbClr val="38A3A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4584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Sustainability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4517136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102A43">
              <a:alpha val="9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460400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405079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F2B705">
              <a:alpha val="96000"/>
            </a:srgbClr>
          </a:solidFill>
          <a:ln w="12700">
            <a:solidFill>
              <a:srgbClr val="F2B70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3766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Culture + Creativity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733288"/>
            <a:ext cx="10497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“기술을 이용한 관광”이 아니라, 기술과 혁신으로 관광도시를 더 잘 관리하는 것</a:t>
            </a:r>
            <a:endParaRPr lang="en-US" sz="14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56692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B72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European Capital of Smart Tourism — YouTube (LFHqZ7v9rfY)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9189720" y="91440"/>
            <a:ext cx="2606040" cy="260604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E9DCC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228600" y="5212080"/>
            <a:ext cx="1417320" cy="141732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BFD7E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몇 분 부분인가?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가장 중요한 구간은 00:36–00:52, 약 16초입니다.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554480" y="2359152"/>
            <a:ext cx="8183880" cy="0"/>
          </a:xfrm>
          <a:prstGeom prst="line">
            <a:avLst/>
          </a:prstGeom>
          <a:noFill/>
          <a:ln w="381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148840"/>
            <a:ext cx="420624" cy="420624"/>
          </a:xfrm>
          <a:prstGeom prst="ellipse">
            <a:avLst/>
          </a:prstGeom>
          <a:solidFill>
            <a:srgbClr val="6B728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00:01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관광의 경제적 중요성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EU 관광 규모와 기회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148840"/>
            <a:ext cx="420624" cy="420624"/>
          </a:xfrm>
          <a:prstGeom prst="ellipse">
            <a:avLst/>
          </a:prstGeom>
          <a:solidFill>
            <a:srgbClr val="1F6F8B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7912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8B"/>
                </a:solidFill>
              </a:rPr>
              <a:t>00:36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스마트관광도시 정의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6324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manage tourism development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148840"/>
            <a:ext cx="420624" cy="420624"/>
          </a:xfrm>
          <a:prstGeom prst="ellipse">
            <a:avLst/>
          </a:prstGeom>
          <a:solidFill>
            <a:srgbClr val="F2B705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705"/>
                </a:solidFill>
              </a:rPr>
              <a:t>00:45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2743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4대 평가 영역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6928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Accessibility · Sustainability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Digitalization · Culture/Creativity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72600" y="2148840"/>
            <a:ext cx="420624" cy="420624"/>
          </a:xfrm>
          <a:prstGeom prst="ellipse">
            <a:avLst/>
          </a:prstGeom>
          <a:solidFill>
            <a:srgbClr val="38A3A5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79992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3A5"/>
                </a:solidFill>
              </a:rPr>
              <a:t>00:52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743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지원 내용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75320" y="3072384"/>
            <a:ext cx="2606040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branding · video · EU visibility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64992" y="3977640"/>
            <a:ext cx="5806440" cy="1033272"/>
          </a:xfrm>
          <a:prstGeom prst="roundRect">
            <a:avLst>
              <a:gd name="adj" fmla="val 10619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1F6F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178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8B"/>
                </a:solidFill>
              </a:rPr>
              <a:t>수업에서 보여줄 핵심 클립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0680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</a:rPr>
              <a:t>00:36–00:52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3657600" y="449884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EU 스마트관광 개념을 가장 압축적으로 보여주는 부분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733288"/>
            <a:ext cx="10497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“00:36부터 EU가 말하는 Smart Tourism의 기준이 나옵니다.”</a:t>
            </a:r>
            <a:endParaRPr lang="en-US" sz="1400" dirty="0"/>
          </a:p>
        </p:txBody>
      </p:sp>
      <p:sp>
        <p:nvSpPr>
          <p:cNvPr id="29" name="Text 27">
            <a:hlinkClick r:id="rId1" tooltip=""/>
          </p:cNvPr>
          <p:cNvSpPr/>
          <p:nvPr/>
        </p:nvSpPr>
        <p:spPr>
          <a:xfrm>
            <a:off x="56692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B72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European Capital of Smart Tourism — YouTube (LFHqZ7v9rfY)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9189720" y="91440"/>
            <a:ext cx="2606040" cy="260604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E9DCC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228600" y="5212080"/>
            <a:ext cx="1417320" cy="141732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BFD7E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스마트관광의 4대 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Digitalization만이 아니라, 접근성·지속가능성·문화창의성을 함께 봅니다.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9904" y="1947672"/>
            <a:ext cx="0" cy="2542032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03320" y="3218688"/>
            <a:ext cx="4773168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24528" y="2011680"/>
            <a:ext cx="3730752" cy="2414016"/>
          </a:xfrm>
          <a:prstGeom prst="line">
            <a:avLst/>
          </a:prstGeom>
          <a:noFill/>
          <a:ln w="20320">
            <a:solidFill>
              <a:srgbClr val="D6DEE8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46136" y="2011680"/>
            <a:ext cx="-3730752" cy="2414016"/>
          </a:xfrm>
          <a:prstGeom prst="line">
            <a:avLst/>
          </a:prstGeom>
          <a:noFill/>
          <a:ln w="20320">
            <a:solidFill>
              <a:srgbClr val="D6DEE8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1828800"/>
            <a:ext cx="292608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1F6F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9751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8B"/>
                </a:solidFill>
              </a:rPr>
              <a:t>Accessibility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22199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접근성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468880"/>
            <a:ext cx="2596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장애인·고령자·외국인도 이용 가능한 관광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485632" y="1828800"/>
            <a:ext cx="292608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38A3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0224" y="19751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3A5"/>
                </a:solidFill>
              </a:rPr>
              <a:t>Sustainability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222199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지속가능성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50224" y="2468880"/>
            <a:ext cx="2596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혼잡·환경·주민 삶의 질 관리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7240" y="4160520"/>
            <a:ext cx="292608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3068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Digitalization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45537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디지털화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4800600"/>
            <a:ext cx="2596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데이터·앱·플랫폼·스마트 서비스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485632" y="4160520"/>
            <a:ext cx="2926080" cy="95097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7780">
            <a:solidFill>
              <a:srgbClr val="F2B7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43068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</a:rPr>
              <a:t>Cultural Heritage &amp; Creativity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50224" y="455371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문화유산·창의성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50224" y="4800600"/>
            <a:ext cx="2596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지역문화 해설·콘텐츠·창의적 경험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160520" y="1965960"/>
            <a:ext cx="3840480" cy="251460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587752"/>
            <a:ext cx="29260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Manage tourism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development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17720" y="3273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8B"/>
                </a:solidFill>
              </a:rPr>
              <a:t>관광 발전을 더 잘 관리하는 것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733288"/>
            <a:ext cx="10497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“스마트관광은 관광객 편의 앱이 아니라 도시 관광관리 모델입니다.”</a:t>
            </a:r>
            <a:endParaRPr lang="en-US" sz="1400" dirty="0"/>
          </a:p>
        </p:txBody>
      </p:sp>
      <p:sp>
        <p:nvSpPr>
          <p:cNvPr id="31" name="Text 29">
            <a:hlinkClick r:id="rId1" tooltip=""/>
          </p:cNvPr>
          <p:cNvSpPr/>
          <p:nvPr/>
        </p:nvSpPr>
        <p:spPr>
          <a:xfrm>
            <a:off x="56692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B72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European Capital of Smart Tourism — YouTube (LFHqZ7v9rfY)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9189720" y="91440"/>
            <a:ext cx="2606040" cy="260604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E9DCC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228600" y="5212080"/>
            <a:ext cx="1417320" cy="1417320"/>
          </a:xfrm>
          <a:prstGeom prst="arc">
            <a:avLst/>
          </a:prstGeom>
          <a:solidFill>
            <a:srgbClr val="F8F5EE">
              <a:alpha val="0"/>
            </a:srgbClr>
          </a:solidFill>
          <a:ln w="19050">
            <a:solidFill>
              <a:srgbClr val="BFD7E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8404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설명용 한 장 요약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8961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영상 클립을 본 뒤, 아래 흐름으로 설명하면 이해가 쉽습니다.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80360" y="2286000"/>
            <a:ext cx="1371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2286000"/>
            <a:ext cx="1371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86600" y="2286000"/>
            <a:ext cx="1371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89720" y="2286000"/>
            <a:ext cx="1371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182880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482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관광객 증가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Tourist Growth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17520" y="182880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482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705"/>
                </a:solidFill>
              </a:rPr>
              <a:t>기회 +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23591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Opportunity + Challenge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F6F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0482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8B"/>
                </a:solidFill>
              </a:rPr>
              <a:t>혁신적 관리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23591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Smart Initiatives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223760" y="182880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38A3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0482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A3A5"/>
                </a:solidFill>
              </a:rPr>
              <a:t>4대 기준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60920" y="23591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 Dimensions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26880" y="182880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0482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스마트관광도시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23591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Smart Destination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3429000"/>
            <a:ext cx="10378440" cy="1143000"/>
          </a:xfrm>
          <a:prstGeom prst="roundRect">
            <a:avLst>
              <a:gd name="adj" fmla="val 104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6576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SMART TOURISM = Technology × Sustainability × Accessibility × Local Creativity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34440" y="4050792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6F8B"/>
                </a:solidFill>
              </a:rPr>
              <a:t>목표: 관광객만 편리한 도시가 아니라, 관광을 더 잘 관리하는 도시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733288"/>
            <a:ext cx="10497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“00:36–00:52를 본 뒤, ‘기술보다 관리’가 핵심이라고 정리하면 됩니다.”</a:t>
            </a:r>
            <a:endParaRPr lang="en-US" sz="1400" dirty="0"/>
          </a:p>
        </p:txBody>
      </p:sp>
      <p:sp>
        <p:nvSpPr>
          <p:cNvPr id="30" name="Text 28">
            <a:hlinkClick r:id="rId1" tooltip=""/>
          </p:cNvPr>
          <p:cNvSpPr/>
          <p:nvPr/>
        </p:nvSpPr>
        <p:spPr>
          <a:xfrm>
            <a:off x="566928" y="64465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u="sng" dirty="0">
                <a:solidFill>
                  <a:srgbClr val="6B72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European Capital of Smart Tourism — YouTube (LFHqZ7v9rfY)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Smart Tourism 핵심 구간</dc:title>
  <dc:subject>European Capital of Smart Tourism 핵심 구간</dc:subject>
  <dc:creator>OpenAI</dc:creator>
  <cp:lastModifiedBy>OpenAI</cp:lastModifiedBy>
  <cp:revision>1</cp:revision>
  <dcterms:created xsi:type="dcterms:W3CDTF">2026-08-15T01:59:43Z</dcterms:created>
  <dcterms:modified xsi:type="dcterms:W3CDTF">2026-08-15T01:59:43Z</dcterms:modified>
</cp:coreProperties>
</file>